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701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28B2-8425-4F5C-BE31-8F423CD2210F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6436-98D2-4556-9398-A67740E7BA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69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28B2-8425-4F5C-BE31-8F423CD2210F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6436-98D2-4556-9398-A67740E7BA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7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28B2-8425-4F5C-BE31-8F423CD2210F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6436-98D2-4556-9398-A67740E7BA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15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28B2-8425-4F5C-BE31-8F423CD2210F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6436-98D2-4556-9398-A67740E7BA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2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28B2-8425-4F5C-BE31-8F423CD2210F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6436-98D2-4556-9398-A67740E7BA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96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28B2-8425-4F5C-BE31-8F423CD2210F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6436-98D2-4556-9398-A67740E7BA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28B2-8425-4F5C-BE31-8F423CD2210F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6436-98D2-4556-9398-A67740E7BA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85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28B2-8425-4F5C-BE31-8F423CD2210F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6436-98D2-4556-9398-A67740E7BA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88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28B2-8425-4F5C-BE31-8F423CD2210F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6436-98D2-4556-9398-A67740E7BA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28B2-8425-4F5C-BE31-8F423CD2210F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6436-98D2-4556-9398-A67740E7BA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6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28B2-8425-4F5C-BE31-8F423CD2210F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6436-98D2-4556-9398-A67740E7BA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9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928B2-8425-4F5C-BE31-8F423CD2210F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56436-98D2-4556-9398-A67740E7BA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1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158834" y="382426"/>
            <a:ext cx="7078663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pPr algn="ctr" eaLnBrk="1" hangingPunct="1">
              <a:lnSpc>
                <a:spcPct val="75000"/>
              </a:lnSpc>
            </a:pPr>
            <a:r>
              <a:rPr lang="en-US" altLang="es-ES" sz="2900" dirty="0"/>
              <a:t>          Piping modifications procedure</a:t>
            </a:r>
          </a:p>
        </p:txBody>
      </p:sp>
      <p:sp>
        <p:nvSpPr>
          <p:cNvPr id="7" name="2 Rectángulo"/>
          <p:cNvSpPr/>
          <p:nvPr/>
        </p:nvSpPr>
        <p:spPr bwMode="auto">
          <a:xfrm>
            <a:off x="4717242" y="1005656"/>
            <a:ext cx="1685578" cy="108012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Template</a:t>
            </a:r>
          </a:p>
        </p:txBody>
      </p:sp>
      <p:sp>
        <p:nvSpPr>
          <p:cNvPr id="9" name="6 Rectángulo redondeado"/>
          <p:cNvSpPr/>
          <p:nvPr/>
        </p:nvSpPr>
        <p:spPr bwMode="auto">
          <a:xfrm>
            <a:off x="4534997" y="2732844"/>
            <a:ext cx="2050068" cy="633218"/>
          </a:xfrm>
          <a:prstGeom prst="roundRect">
            <a:avLst/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s-ES" dirty="0"/>
              <a:t>Isos / Revisions to </a:t>
            </a:r>
          </a:p>
          <a:p>
            <a:r>
              <a:rPr lang="es-ES" dirty="0"/>
              <a:t>be sign</a:t>
            </a:r>
          </a:p>
        </p:txBody>
      </p:sp>
      <p:sp>
        <p:nvSpPr>
          <p:cNvPr id="10" name="9 Flecha abajo"/>
          <p:cNvSpPr/>
          <p:nvPr/>
        </p:nvSpPr>
        <p:spPr bwMode="auto">
          <a:xfrm rot="10800000">
            <a:off x="5364526" y="2166226"/>
            <a:ext cx="484632" cy="452387"/>
          </a:xfrm>
          <a:prstGeom prst="downArrow">
            <a:avLst/>
          </a:prstGeom>
          <a:solidFill>
            <a:srgbClr val="0000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14 Cinta perforada"/>
          <p:cNvSpPr/>
          <p:nvPr/>
        </p:nvSpPr>
        <p:spPr bwMode="auto">
          <a:xfrm>
            <a:off x="4927002" y="5544704"/>
            <a:ext cx="1677073" cy="860973"/>
          </a:xfrm>
          <a:prstGeom prst="flowChartPunchedTape">
            <a:avLst/>
          </a:prstGeom>
          <a:solidFill>
            <a:srgbClr val="33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is Already</a:t>
            </a: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Built by SUBC?</a:t>
            </a:r>
            <a:endParaRPr kumimoji="0" 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15 Flecha abajo"/>
          <p:cNvSpPr/>
          <p:nvPr/>
        </p:nvSpPr>
        <p:spPr bwMode="auto">
          <a:xfrm rot="10800000">
            <a:off x="5375284" y="3443950"/>
            <a:ext cx="484632" cy="464955"/>
          </a:xfrm>
          <a:prstGeom prst="downArrow">
            <a:avLst/>
          </a:prstGeom>
          <a:solidFill>
            <a:srgbClr val="0000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16 Flecha abajo"/>
          <p:cNvSpPr/>
          <p:nvPr/>
        </p:nvSpPr>
        <p:spPr bwMode="auto">
          <a:xfrm flipV="1">
            <a:off x="5375284" y="4519392"/>
            <a:ext cx="484632" cy="1004081"/>
          </a:xfrm>
          <a:prstGeom prst="downArrow">
            <a:avLst/>
          </a:prstGeom>
          <a:solidFill>
            <a:srgbClr val="0000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17 Rectángulo"/>
          <p:cNvSpPr/>
          <p:nvPr/>
        </p:nvSpPr>
        <p:spPr bwMode="auto">
          <a:xfrm>
            <a:off x="7891835" y="4138047"/>
            <a:ext cx="4051638" cy="24881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Possible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reason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for modifications 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</a:pPr>
            <a:r>
              <a:rPr lang="en-US" dirty="0"/>
              <a:t>T. Query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</a:pPr>
            <a:r>
              <a:rPr lang="en-US"/>
              <a:t>ETI or FCR</a:t>
            </a:r>
            <a:endParaRPr lang="en-US" dirty="0"/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</a:pPr>
            <a:r>
              <a:rPr lang="en-US" dirty="0"/>
              <a:t>New Revision</a:t>
            </a:r>
            <a:endParaRPr lang="en-US" baseline="0" dirty="0"/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</a:pPr>
            <a:r>
              <a:rPr lang="en-US" dirty="0"/>
              <a:t>Interferences (solution to </a:t>
            </a: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     be approved by ENG)</a:t>
            </a:r>
          </a:p>
        </p:txBody>
      </p:sp>
      <p:sp>
        <p:nvSpPr>
          <p:cNvPr id="17" name="18 Flecha abajo"/>
          <p:cNvSpPr/>
          <p:nvPr/>
        </p:nvSpPr>
        <p:spPr bwMode="auto">
          <a:xfrm rot="5400000" flipH="1">
            <a:off x="6969635" y="5437761"/>
            <a:ext cx="484632" cy="1071736"/>
          </a:xfrm>
          <a:prstGeom prst="downArrow">
            <a:avLst/>
          </a:prstGeom>
          <a:solidFill>
            <a:srgbClr val="0000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/>
          <p:cNvSpPr>
            <a:spLocks noGrp="1" noChangeArrowheads="1"/>
          </p:cNvSpPr>
          <p:nvPr/>
        </p:nvSpPr>
        <p:spPr bwMode="auto">
          <a:xfrm>
            <a:off x="6528281" y="5474022"/>
            <a:ext cx="1439349" cy="340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pPr algn="ctr" eaLnBrk="1" hangingPunct="1">
              <a:lnSpc>
                <a:spcPct val="75000"/>
              </a:lnSpc>
            </a:pPr>
            <a:r>
              <a:rPr lang="en-US" altLang="es-ES" sz="1400" dirty="0"/>
              <a:t>Engineering</a:t>
            </a:r>
          </a:p>
        </p:txBody>
      </p:sp>
      <p:sp>
        <p:nvSpPr>
          <p:cNvPr id="19" name="6 Rectángulo redondeado"/>
          <p:cNvSpPr/>
          <p:nvPr/>
        </p:nvSpPr>
        <p:spPr bwMode="auto">
          <a:xfrm>
            <a:off x="4180402" y="4010568"/>
            <a:ext cx="2759259" cy="407162"/>
          </a:xfrm>
          <a:prstGeom prst="roundRect">
            <a:avLst/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s-ES" dirty="0"/>
              <a:t>Supervisor to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0237" y="4082461"/>
            <a:ext cx="14433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Start</a:t>
            </a:r>
          </a:p>
        </p:txBody>
      </p:sp>
      <p:sp>
        <p:nvSpPr>
          <p:cNvPr id="22" name="16 Flecha abajo"/>
          <p:cNvSpPr/>
          <p:nvPr/>
        </p:nvSpPr>
        <p:spPr bwMode="auto">
          <a:xfrm rot="16200000" flipV="1">
            <a:off x="4158395" y="5598299"/>
            <a:ext cx="484632" cy="862280"/>
          </a:xfrm>
          <a:prstGeom prst="downArrow">
            <a:avLst/>
          </a:prstGeom>
          <a:solidFill>
            <a:srgbClr val="0000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angle 22"/>
          <p:cNvSpPr>
            <a:spLocks noGrp="1" noChangeArrowheads="1"/>
          </p:cNvSpPr>
          <p:nvPr/>
        </p:nvSpPr>
        <p:spPr bwMode="auto">
          <a:xfrm>
            <a:off x="3746697" y="5644295"/>
            <a:ext cx="1439349" cy="803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pPr algn="ctr" eaLnBrk="1" hangingPunct="1">
              <a:lnSpc>
                <a:spcPct val="75000"/>
              </a:lnSpc>
            </a:pPr>
            <a:r>
              <a:rPr lang="en-US" altLang="es-ES" sz="1400" dirty="0"/>
              <a:t>NO</a:t>
            </a:r>
          </a:p>
        </p:txBody>
      </p:sp>
      <p:sp>
        <p:nvSpPr>
          <p:cNvPr id="24" name="6 Rectángulo redondeado"/>
          <p:cNvSpPr/>
          <p:nvPr/>
        </p:nvSpPr>
        <p:spPr bwMode="auto">
          <a:xfrm>
            <a:off x="2479404" y="5655387"/>
            <a:ext cx="1395016" cy="792088"/>
          </a:xfrm>
          <a:prstGeom prst="roundRect">
            <a:avLst/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s-ES" dirty="0"/>
              <a:t>No need of </a:t>
            </a:r>
          </a:p>
          <a:p>
            <a:r>
              <a:rPr lang="es-ES" dirty="0"/>
              <a:t>modification</a:t>
            </a:r>
          </a:p>
        </p:txBody>
      </p:sp>
      <p:sp>
        <p:nvSpPr>
          <p:cNvPr id="25" name="Rectangle 24"/>
          <p:cNvSpPr>
            <a:spLocks noGrp="1" noChangeArrowheads="1"/>
          </p:cNvSpPr>
          <p:nvPr/>
        </p:nvSpPr>
        <p:spPr bwMode="auto">
          <a:xfrm>
            <a:off x="5236734" y="5035880"/>
            <a:ext cx="1439349" cy="803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pPr algn="ctr" eaLnBrk="1" hangingPunct="1">
              <a:lnSpc>
                <a:spcPct val="75000"/>
              </a:lnSpc>
            </a:pPr>
            <a:r>
              <a:rPr lang="en-US" altLang="es-ES" sz="1400" dirty="0"/>
              <a:t>YES</a:t>
            </a:r>
          </a:p>
        </p:txBody>
      </p:sp>
      <p:sp>
        <p:nvSpPr>
          <p:cNvPr id="28" name="Rectangle 27"/>
          <p:cNvSpPr>
            <a:spLocks noGrp="1" noChangeArrowheads="1"/>
          </p:cNvSpPr>
          <p:nvPr/>
        </p:nvSpPr>
        <p:spPr bwMode="auto">
          <a:xfrm>
            <a:off x="5301776" y="3680871"/>
            <a:ext cx="1439349" cy="803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pPr algn="ctr" eaLnBrk="1" hangingPunct="1">
              <a:lnSpc>
                <a:spcPct val="75000"/>
              </a:lnSpc>
            </a:pPr>
            <a:r>
              <a:rPr lang="en-US" altLang="es-ES" sz="1400" dirty="0"/>
              <a:t>YES</a:t>
            </a:r>
          </a:p>
        </p:txBody>
      </p:sp>
      <p:sp>
        <p:nvSpPr>
          <p:cNvPr id="32" name="Rectangle 31"/>
          <p:cNvSpPr>
            <a:spLocks noGrp="1" noChangeArrowheads="1"/>
          </p:cNvSpPr>
          <p:nvPr/>
        </p:nvSpPr>
        <p:spPr bwMode="auto">
          <a:xfrm>
            <a:off x="6308470" y="1093333"/>
            <a:ext cx="1439349" cy="803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pPr algn="ctr" eaLnBrk="1" hangingPunct="1">
              <a:lnSpc>
                <a:spcPct val="75000"/>
              </a:lnSpc>
            </a:pPr>
            <a:r>
              <a:rPr lang="en-US" altLang="es-ES" sz="8000" dirty="0"/>
              <a:t>=</a:t>
            </a:r>
          </a:p>
        </p:txBody>
      </p:sp>
      <p:sp>
        <p:nvSpPr>
          <p:cNvPr id="35" name="18 Flecha abajo"/>
          <p:cNvSpPr/>
          <p:nvPr/>
        </p:nvSpPr>
        <p:spPr bwMode="auto">
          <a:xfrm rot="5400000" flipH="1">
            <a:off x="3795710" y="960997"/>
            <a:ext cx="484632" cy="1071736"/>
          </a:xfrm>
          <a:prstGeom prst="downArrow">
            <a:avLst/>
          </a:prstGeom>
          <a:solidFill>
            <a:srgbClr val="0000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6 Rectángulo redondeado"/>
          <p:cNvSpPr/>
          <p:nvPr/>
        </p:nvSpPr>
        <p:spPr bwMode="auto">
          <a:xfrm>
            <a:off x="473337" y="1291342"/>
            <a:ext cx="2885474" cy="407162"/>
          </a:xfrm>
          <a:prstGeom prst="roundRect">
            <a:avLst/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s-ES" dirty="0"/>
              <a:t>SUBC to fill in the Template</a:t>
            </a:r>
          </a:p>
        </p:txBody>
      </p:sp>
      <p:sp>
        <p:nvSpPr>
          <p:cNvPr id="37" name="16 Flecha abajo"/>
          <p:cNvSpPr/>
          <p:nvPr/>
        </p:nvSpPr>
        <p:spPr bwMode="auto">
          <a:xfrm rot="10800000" flipV="1">
            <a:off x="1711090" y="1759695"/>
            <a:ext cx="484632" cy="2031911"/>
          </a:xfrm>
          <a:prstGeom prst="downArrow">
            <a:avLst/>
          </a:prstGeom>
          <a:solidFill>
            <a:srgbClr val="0000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6 Rectángulo redondeado"/>
          <p:cNvSpPr/>
          <p:nvPr/>
        </p:nvSpPr>
        <p:spPr bwMode="auto">
          <a:xfrm>
            <a:off x="946676" y="3897540"/>
            <a:ext cx="2050068" cy="633218"/>
          </a:xfrm>
          <a:prstGeom prst="roundRect">
            <a:avLst/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s-ES" dirty="0"/>
              <a:t>Subimission for </a:t>
            </a:r>
          </a:p>
          <a:p>
            <a:r>
              <a:rPr lang="es-ES" dirty="0"/>
              <a:t>Signatures</a:t>
            </a:r>
          </a:p>
        </p:txBody>
      </p:sp>
      <p:sp>
        <p:nvSpPr>
          <p:cNvPr id="40" name="Rectangle 39"/>
          <p:cNvSpPr>
            <a:spLocks noGrp="1" noChangeArrowheads="1"/>
          </p:cNvSpPr>
          <p:nvPr/>
        </p:nvSpPr>
        <p:spPr bwMode="auto">
          <a:xfrm>
            <a:off x="3417786" y="1674855"/>
            <a:ext cx="1439349" cy="340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pPr algn="ctr" eaLnBrk="1" hangingPunct="1">
              <a:lnSpc>
                <a:spcPct val="75000"/>
              </a:lnSpc>
            </a:pPr>
            <a:r>
              <a:rPr lang="en-US" altLang="es-ES" sz="1400" dirty="0"/>
              <a:t>SUBC</a:t>
            </a:r>
          </a:p>
        </p:txBody>
      </p:sp>
      <p:sp>
        <p:nvSpPr>
          <p:cNvPr id="29" name="Rectangle 39"/>
          <p:cNvSpPr>
            <a:spLocks noGrp="1" noChangeArrowheads="1"/>
          </p:cNvSpPr>
          <p:nvPr/>
        </p:nvSpPr>
        <p:spPr bwMode="auto">
          <a:xfrm>
            <a:off x="2014058" y="2342395"/>
            <a:ext cx="1439349" cy="1414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pPr algn="ctr" eaLnBrk="1" hangingPunct="1">
              <a:lnSpc>
                <a:spcPct val="75000"/>
              </a:lnSpc>
            </a:pPr>
            <a:r>
              <a:rPr lang="en-US" altLang="es-ES" sz="1400" dirty="0"/>
              <a:t>NOTE: </a:t>
            </a:r>
          </a:p>
          <a:p>
            <a:pPr algn="ctr" eaLnBrk="1" hangingPunct="1">
              <a:lnSpc>
                <a:spcPct val="75000"/>
              </a:lnSpc>
            </a:pPr>
            <a:r>
              <a:rPr lang="en-US" altLang="es-ES" sz="1400" dirty="0"/>
              <a:t>Within the </a:t>
            </a:r>
            <a:r>
              <a:rPr lang="en-US" altLang="es-ES" sz="1400" dirty="0" err="1"/>
              <a:t>Isos</a:t>
            </a:r>
            <a:r>
              <a:rPr lang="en-US" altLang="es-ES" sz="1400" dirty="0"/>
              <a:t>, Elemental Operations Signed By Supervisor</a:t>
            </a:r>
          </a:p>
        </p:txBody>
      </p:sp>
      <p:pic>
        <p:nvPicPr>
          <p:cNvPr id="34" name="33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96" y="162951"/>
            <a:ext cx="897255" cy="613410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95" y="319986"/>
            <a:ext cx="4312921" cy="3390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0320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74</Words>
  <Application>Microsoft Office PowerPoint</Application>
  <PresentationFormat>Panorámica</PresentationFormat>
  <Paragraphs>29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Alejandro Vazquez Caballero</dc:creator>
  <cp:lastModifiedBy>Prieto de Ahumada , Luis Rafael</cp:lastModifiedBy>
  <cp:revision>16</cp:revision>
  <dcterms:created xsi:type="dcterms:W3CDTF">2014-10-31T14:05:44Z</dcterms:created>
  <dcterms:modified xsi:type="dcterms:W3CDTF">2020-07-06T17:05:19Z</dcterms:modified>
</cp:coreProperties>
</file>